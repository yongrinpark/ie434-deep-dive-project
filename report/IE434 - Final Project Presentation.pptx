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5"/>
    <p:sldMasterId id="2147483676" r:id="rId6"/>
    <p:sldMasterId id="214748367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CF1910-2D54-4776-8ADB-EA04EF5D9A86}">
  <a:tblStyle styleId="{F6CF1910-2D54-4776-8ADB-EA04EF5D9A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22" Type="http://schemas.openxmlformats.org/officeDocument/2006/relationships/font" Target="fonts/Roboto-bold.fntdata"/><Relationship Id="rId10" Type="http://schemas.openxmlformats.org/officeDocument/2006/relationships/slide" Target="slides/slide2.xml"/><Relationship Id="rId21" Type="http://schemas.openxmlformats.org/officeDocument/2006/relationships/font" Target="fonts/Roboto-regular.fntdata"/><Relationship Id="rId13" Type="http://schemas.openxmlformats.org/officeDocument/2006/relationships/slide" Target="slides/slide5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4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e379d7835_2_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e379d7835_2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e379d7835_2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ae379d7835_2_2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e379d7835_2_2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e379d783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ae379d783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ae379d7835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e379d7835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ae379d7835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e379d7835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e4c2224a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ae4c2224a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e4c2224a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e379d7835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ae379d7835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ae379d7835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e379d7835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ae379d7835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ae379d7835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e379d7835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ae379d7835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ae379d7835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e379d7835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ae379d7835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ae379d7835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e379d7835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ae379d7835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ae379d7835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e379d7835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ae379d7835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ae379d7835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379d7835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ae379d7835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ae379d7835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">
  <p:cSld name="1_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338390" y="3439519"/>
            <a:ext cx="6467220" cy="2738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0" i="1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506365" y="4803525"/>
            <a:ext cx="2057400" cy="2013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1338390" y="1224911"/>
            <a:ext cx="6467220" cy="17825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9" name="Google Shape;59;p14"/>
          <p:cNvCxnSpPr/>
          <p:nvPr/>
        </p:nvCxnSpPr>
        <p:spPr>
          <a:xfrm>
            <a:off x="2730469" y="3234020"/>
            <a:ext cx="3683063" cy="0"/>
          </a:xfrm>
          <a:prstGeom prst="straightConnector1">
            <a:avLst/>
          </a:prstGeom>
          <a:noFill/>
          <a:ln cap="flat" cmpd="sng" w="38100">
            <a:solidFill>
              <a:srgbClr val="FF5F0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University of Illinois Urbana-Champaign primary word mark." id="60" name="Google Shape;6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6890" y="0"/>
            <a:ext cx="2410220" cy="583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628650" y="2161627"/>
            <a:ext cx="7886700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Georgia"/>
              <a:buNone/>
              <a:defRPr b="0" i="1" sz="2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2635448" y="2759052"/>
            <a:ext cx="3873103" cy="2738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1" i="0" sz="14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iversity of Illinois Urbana-Champaign primary word mark."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6888" y="0"/>
            <a:ext cx="2410220" cy="58304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 with Image">
  <p:cSld name="Overview with Imag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2971800" y="473167"/>
            <a:ext cx="5167982" cy="474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100"/>
              <a:buFont typeface="Arial"/>
              <a:buNone/>
              <a:defRPr b="1" i="0" sz="3100">
                <a:solidFill>
                  <a:srgbClr val="FF5F0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7"/>
          <p:cNvSpPr/>
          <p:nvPr>
            <p:ph idx="2" type="pic"/>
          </p:nvPr>
        </p:nvSpPr>
        <p:spPr>
          <a:xfrm>
            <a:off x="0" y="1"/>
            <a:ext cx="281255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2812550" y="2576965"/>
            <a:ext cx="1759450" cy="13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3" type="body"/>
          </p:nvPr>
        </p:nvSpPr>
        <p:spPr>
          <a:xfrm>
            <a:off x="2812550" y="4034012"/>
            <a:ext cx="17192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4" type="body"/>
          </p:nvPr>
        </p:nvSpPr>
        <p:spPr>
          <a:xfrm>
            <a:off x="4791075" y="2580085"/>
            <a:ext cx="1719263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5" type="body"/>
          </p:nvPr>
        </p:nvSpPr>
        <p:spPr>
          <a:xfrm>
            <a:off x="4791574" y="4043810"/>
            <a:ext cx="17192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6" type="body"/>
          </p:nvPr>
        </p:nvSpPr>
        <p:spPr>
          <a:xfrm>
            <a:off x="6770305" y="2580085"/>
            <a:ext cx="1720043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7" type="body"/>
          </p:nvPr>
        </p:nvSpPr>
        <p:spPr>
          <a:xfrm>
            <a:off x="6770597" y="4043810"/>
            <a:ext cx="17192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he Block I in orange with a blue background." id="80" name="Google Shape;8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7"/>
          <p:cNvCxnSpPr/>
          <p:nvPr/>
        </p:nvCxnSpPr>
        <p:spPr>
          <a:xfrm>
            <a:off x="2971800" y="1147046"/>
            <a:ext cx="5682533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Overview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30491" y="436937"/>
            <a:ext cx="7485273" cy="474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100"/>
              <a:buFont typeface="Arial"/>
              <a:buNone/>
              <a:defRPr b="1" i="0" sz="3100">
                <a:solidFill>
                  <a:srgbClr val="FF5F0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96244" y="1878068"/>
            <a:ext cx="1759450" cy="13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496244" y="3335115"/>
            <a:ext cx="17192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2474769" y="1881188"/>
            <a:ext cx="1719263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2475268" y="3344912"/>
            <a:ext cx="17192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5" type="body"/>
          </p:nvPr>
        </p:nvSpPr>
        <p:spPr>
          <a:xfrm>
            <a:off x="4453999" y="1881188"/>
            <a:ext cx="1720043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6" type="body"/>
          </p:nvPr>
        </p:nvSpPr>
        <p:spPr>
          <a:xfrm>
            <a:off x="4454291" y="3344912"/>
            <a:ext cx="17192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7" type="body"/>
          </p:nvPr>
        </p:nvSpPr>
        <p:spPr>
          <a:xfrm>
            <a:off x="6395722" y="1881188"/>
            <a:ext cx="1720043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8" type="body"/>
          </p:nvPr>
        </p:nvSpPr>
        <p:spPr>
          <a:xfrm>
            <a:off x="6396013" y="3344912"/>
            <a:ext cx="17192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i="0" sz="15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The Block I in orange with a blue background." id="92" name="Google Shape;9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4" name="Google Shape;94;p18"/>
          <p:cNvCxnSpPr/>
          <p:nvPr/>
        </p:nvCxnSpPr>
        <p:spPr>
          <a:xfrm>
            <a:off x="489667" y="1147046"/>
            <a:ext cx="816466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2970918" y="1477388"/>
            <a:ext cx="953086" cy="13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00"/>
              <a:buNone/>
              <a:defRPr b="1" i="0" sz="101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2971800" y="3255096"/>
            <a:ext cx="5543550" cy="474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3100"/>
              <a:buFont typeface="Arial"/>
              <a:buNone/>
              <a:defRPr b="1" i="0" sz="3100">
                <a:solidFill>
                  <a:srgbClr val="1228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/>
          <p:nvPr>
            <p:ph idx="2" type="pic"/>
          </p:nvPr>
        </p:nvSpPr>
        <p:spPr>
          <a:xfrm>
            <a:off x="0" y="1"/>
            <a:ext cx="281255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he Block I in orange with a blue background." id="100" name="Google Shape;10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9"/>
          <p:cNvCxnSpPr/>
          <p:nvPr/>
        </p:nvCxnSpPr>
        <p:spPr>
          <a:xfrm>
            <a:off x="2970918" y="3056735"/>
            <a:ext cx="5682533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628650" y="498513"/>
            <a:ext cx="7511132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628650" y="1305735"/>
            <a:ext cx="7886700" cy="30253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The Block I in orange with a blue background." id="105" name="Google Shape;10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20"/>
          <p:cNvCxnSpPr/>
          <p:nvPr/>
        </p:nvCxnSpPr>
        <p:spPr>
          <a:xfrm>
            <a:off x="489667" y="1147046"/>
            <a:ext cx="816466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bottom image">
  <p:cSld name="Title and Content bottom imag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628650" y="498513"/>
            <a:ext cx="7511132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628650" y="1305736"/>
            <a:ext cx="7886700" cy="14386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21"/>
          <p:cNvSpPr/>
          <p:nvPr>
            <p:ph idx="2" type="pic"/>
          </p:nvPr>
        </p:nvSpPr>
        <p:spPr>
          <a:xfrm>
            <a:off x="0" y="2846785"/>
            <a:ext cx="9144000" cy="2296715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he Block I in orange with a blue background." id="113" name="Google Shape;11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1"/>
          <p:cNvCxnSpPr/>
          <p:nvPr/>
        </p:nvCxnSpPr>
        <p:spPr>
          <a:xfrm>
            <a:off x="489667" y="1147046"/>
            <a:ext cx="816466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headings and 2 Columns">
  <p:cSld name="Suheadings and 2 Column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628650" y="498513"/>
            <a:ext cx="7511132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629841" y="1260872"/>
            <a:ext cx="3868340" cy="37449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i="1" sz="18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22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3" type="body"/>
          </p:nvPr>
        </p:nvSpPr>
        <p:spPr>
          <a:xfrm>
            <a:off x="4629150" y="1260872"/>
            <a:ext cx="3887391" cy="37449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i="1" sz="1800">
                <a:solidFill>
                  <a:srgbClr val="FF5F0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22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The Block I in orange with a blue background." id="121" name="Google Shape;12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22"/>
          <p:cNvCxnSpPr/>
          <p:nvPr/>
        </p:nvCxnSpPr>
        <p:spPr>
          <a:xfrm>
            <a:off x="489667" y="1147046"/>
            <a:ext cx="816466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628650" y="498513"/>
            <a:ext cx="7511132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The Block I in orange with a blue background." id="126" name="Google Shape;12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23"/>
          <p:cNvCxnSpPr/>
          <p:nvPr/>
        </p:nvCxnSpPr>
        <p:spPr>
          <a:xfrm>
            <a:off x="489667" y="1147046"/>
            <a:ext cx="816466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628650" y="498513"/>
            <a:ext cx="7511132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4"/>
          <p:cNvSpPr/>
          <p:nvPr/>
        </p:nvSpPr>
        <p:spPr>
          <a:xfrm>
            <a:off x="628650" y="1941476"/>
            <a:ext cx="256142" cy="256142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2330210" y="1930873"/>
            <a:ext cx="256142" cy="256142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4051180" y="1930873"/>
            <a:ext cx="256142" cy="256142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24"/>
          <p:cNvSpPr/>
          <p:nvPr/>
        </p:nvSpPr>
        <p:spPr>
          <a:xfrm>
            <a:off x="5752741" y="1937342"/>
            <a:ext cx="256142" cy="256142"/>
          </a:xfrm>
          <a:prstGeom prst="ellipse">
            <a:avLst/>
          </a:prstGeom>
          <a:solidFill>
            <a:srgbClr val="12284B"/>
          </a:solidFill>
          <a:ln cap="flat" cmpd="sng" w="12700">
            <a:solidFill>
              <a:srgbClr val="102F5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35" name="Google Shape;135;p24"/>
          <p:cNvCxnSpPr/>
          <p:nvPr/>
        </p:nvCxnSpPr>
        <p:spPr>
          <a:xfrm>
            <a:off x="754025" y="2065413"/>
            <a:ext cx="5126786" cy="0"/>
          </a:xfrm>
          <a:prstGeom prst="straightConnector1">
            <a:avLst/>
          </a:prstGeom>
          <a:noFill/>
          <a:ln cap="flat" cmpd="sng" w="57150">
            <a:solidFill>
              <a:srgbClr val="12284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628650" y="2425770"/>
            <a:ext cx="1420487" cy="594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i="0"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2" type="body"/>
          </p:nvPr>
        </p:nvSpPr>
        <p:spPr>
          <a:xfrm>
            <a:off x="628650" y="3119832"/>
            <a:ext cx="1420487" cy="594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0" i="0" sz="1100"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3" type="body"/>
          </p:nvPr>
        </p:nvSpPr>
        <p:spPr>
          <a:xfrm>
            <a:off x="2339019" y="2434033"/>
            <a:ext cx="1420487" cy="594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b="1" i="0" sz="2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4" type="body"/>
          </p:nvPr>
        </p:nvSpPr>
        <p:spPr>
          <a:xfrm>
            <a:off x="2330756" y="3119832"/>
            <a:ext cx="1420487" cy="594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5" type="body"/>
          </p:nvPr>
        </p:nvSpPr>
        <p:spPr>
          <a:xfrm>
            <a:off x="4049388" y="2434421"/>
            <a:ext cx="1420487" cy="594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b="1" i="0" sz="2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6" type="body"/>
          </p:nvPr>
        </p:nvSpPr>
        <p:spPr>
          <a:xfrm>
            <a:off x="4049387" y="3119832"/>
            <a:ext cx="1420487" cy="594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7" type="body"/>
          </p:nvPr>
        </p:nvSpPr>
        <p:spPr>
          <a:xfrm>
            <a:off x="5759756" y="2442682"/>
            <a:ext cx="1420487" cy="594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b="1" i="0" sz="2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8" type="body"/>
          </p:nvPr>
        </p:nvSpPr>
        <p:spPr>
          <a:xfrm>
            <a:off x="5759756" y="3119832"/>
            <a:ext cx="1420487" cy="5945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The Block I in orange with a blue background." id="144" name="Google Shape;14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24"/>
          <p:cNvCxnSpPr/>
          <p:nvPr/>
        </p:nvCxnSpPr>
        <p:spPr>
          <a:xfrm>
            <a:off x="489667" y="1147046"/>
            <a:ext cx="816466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">
  <p:cSld name="1_Title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5"/>
          <p:cNvSpPr txBox="1"/>
          <p:nvPr>
            <p:ph idx="1" type="subTitle"/>
          </p:nvPr>
        </p:nvSpPr>
        <p:spPr>
          <a:xfrm>
            <a:off x="1338390" y="3439519"/>
            <a:ext cx="6467220" cy="2738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0" i="1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0" name="Google Shape;150;p25"/>
          <p:cNvSpPr txBox="1"/>
          <p:nvPr>
            <p:ph idx="2" type="body"/>
          </p:nvPr>
        </p:nvSpPr>
        <p:spPr>
          <a:xfrm>
            <a:off x="506365" y="4803525"/>
            <a:ext cx="2057400" cy="2013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type="title"/>
          </p:nvPr>
        </p:nvSpPr>
        <p:spPr>
          <a:xfrm>
            <a:off x="1338390" y="1224911"/>
            <a:ext cx="6467220" cy="17825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2" name="Google Shape;152;p25"/>
          <p:cNvCxnSpPr/>
          <p:nvPr/>
        </p:nvCxnSpPr>
        <p:spPr>
          <a:xfrm>
            <a:off x="2730469" y="3234020"/>
            <a:ext cx="3683063" cy="0"/>
          </a:xfrm>
          <a:prstGeom prst="straightConnector1">
            <a:avLst/>
          </a:prstGeom>
          <a:noFill/>
          <a:ln cap="flat" cmpd="sng" w="38100">
            <a:solidFill>
              <a:srgbClr val="FF5F0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University of Illinois Urbana-Champaign primary word mark." id="153" name="Google Shape;15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6890" y="0"/>
            <a:ext cx="2410220" cy="583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s ">
  <p:cSld name="Title and 2 Columns 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628650" y="498513"/>
            <a:ext cx="7511132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629841" y="1273628"/>
            <a:ext cx="3868340" cy="33686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2" type="body"/>
          </p:nvPr>
        </p:nvSpPr>
        <p:spPr>
          <a:xfrm>
            <a:off x="4629150" y="1273628"/>
            <a:ext cx="3887391" cy="33686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The Block I in orange with a blue background." id="158" name="Google Shape;15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6"/>
          <p:cNvCxnSpPr/>
          <p:nvPr/>
        </p:nvCxnSpPr>
        <p:spPr>
          <a:xfrm>
            <a:off x="489667" y="1147046"/>
            <a:ext cx="816466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lumns">
  <p:cSld name="Title and Column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628650" y="498513"/>
            <a:ext cx="7511132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628650" y="1305735"/>
            <a:ext cx="7886700" cy="30253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The Block I in orange with a blue background." id="164" name="Google Shape;16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27"/>
          <p:cNvCxnSpPr/>
          <p:nvPr/>
        </p:nvCxnSpPr>
        <p:spPr>
          <a:xfrm>
            <a:off x="489667" y="1147046"/>
            <a:ext cx="816466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Callout">
  <p:cSld name="Title and Content Callou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628650" y="498513"/>
            <a:ext cx="7511132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>
                <a:solidFill>
                  <a:srgbClr val="FF5F0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628650" y="1305735"/>
            <a:ext cx="7886700" cy="30253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The Block I in orange with a blue background." id="170" name="Google Shape;17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9782" y="-1173"/>
            <a:ext cx="513670" cy="641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8"/>
          <p:cNvCxnSpPr/>
          <p:nvPr/>
        </p:nvCxnSpPr>
        <p:spPr>
          <a:xfrm>
            <a:off x="489667" y="1147046"/>
            <a:ext cx="8164667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628650" y="2161627"/>
            <a:ext cx="7886700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Georgia"/>
              <a:buNone/>
              <a:defRPr b="0" i="1" sz="2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2635448" y="2759052"/>
            <a:ext cx="3873103" cy="2738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1" i="0" sz="14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iversity of Illinois Urbana-Champaign primary word mark." id="176" name="Google Shape;17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6888" y="0"/>
            <a:ext cx="2410220" cy="58304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5F0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5F0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5F03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5F03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FF5F0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12284B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5F0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5F0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5F0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5F03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5F03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FF5F0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1338390" y="1835834"/>
            <a:ext cx="6467220" cy="1171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</a:pPr>
            <a:r>
              <a:rPr lang="en" sz="4100"/>
              <a:t>Energy Prices in Illinois</a:t>
            </a:r>
            <a:endParaRPr sz="41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 txBox="1"/>
          <p:nvPr>
            <p:ph idx="1" type="subTitle"/>
          </p:nvPr>
        </p:nvSpPr>
        <p:spPr>
          <a:xfrm>
            <a:off x="1238750" y="3439525"/>
            <a:ext cx="66747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i="0" lang="en"/>
              <a:t>Group Members:</a:t>
            </a:r>
            <a:r>
              <a:rPr i="0" lang="en"/>
              <a:t> Prithvish Taukari (taukari2); Yongrin Park (yongrin2); Viswanath Vadlamani (sv56)</a:t>
            </a:r>
            <a:endParaRPr i="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i="0" lang="en"/>
              <a:t>Course:</a:t>
            </a:r>
            <a:r>
              <a:rPr i="0" lang="en"/>
              <a:t> IE 434 - Deep Learning</a:t>
            </a:r>
            <a:endParaRPr i="0"/>
          </a:p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628650" y="498513"/>
            <a:ext cx="7511132" cy="44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Motivation: Why Forecast LMP?</a:t>
            </a:r>
            <a:endParaRPr/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2"/>
          <p:cNvSpPr txBox="1"/>
          <p:nvPr/>
        </p:nvSpPr>
        <p:spPr>
          <a:xfrm>
            <a:off x="311700" y="1339475"/>
            <a:ext cx="85206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Locational Marginal Price (LMP) changes every hour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driven by demand, congestion, fuel costs, outages, and weather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Illinois Hub LMP is highly volatile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includes sudden spikes and rapid fluctuations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Accurate forecasting is important for: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utilities planning generation and purchases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grid operators managing reliability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large consumers optimizing energy usage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market participants reducing financial risk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Project goal: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predict hourly Illinois LMP using ML and DL models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compare model performance and understand key drivers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Viswanath, Prithvish, Yongrin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628650" y="498513"/>
            <a:ext cx="7511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Sample Data</a:t>
            </a:r>
            <a:endParaRPr/>
          </a:p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3"/>
          <p:cNvSpPr txBox="1"/>
          <p:nvPr/>
        </p:nvSpPr>
        <p:spPr>
          <a:xfrm>
            <a:off x="311700" y="1188650"/>
            <a:ext cx="85206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Final Modeling Table (2017–2025):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Hourly, time-indexed dataset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Combined Actual LMP, Day-Ahead LMP, and Load data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Pivoted hub prices into separate columns (e.g., da_ILLINOIS.HUB)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Added lag and rolling-window features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Dataset Characteristics: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~65,000 hourly rows after cleaning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Fully aligned across all sources (common start/end window)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missing values after interpolation + forward/backward fill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203" name="Google Shape;203;p33"/>
          <p:cNvGraphicFramePr/>
          <p:nvPr/>
        </p:nvGraphicFramePr>
        <p:xfrm>
          <a:off x="945700" y="365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{F6CF1910-2D54-4776-8ADB-EA04EF5D9A86}</a:tableStyleId>
              </a:tblPr>
              <a:tblGrid>
                <a:gridCol w="950125"/>
                <a:gridCol w="784225"/>
                <a:gridCol w="746475"/>
                <a:gridCol w="746500"/>
                <a:gridCol w="754050"/>
                <a:gridCol w="927475"/>
                <a:gridCol w="701250"/>
                <a:gridCol w="1266875"/>
              </a:tblGrid>
              <a:tr h="11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E5F07"/>
                          </a:solidFill>
                        </a:rPr>
                        <a:t>Timestamp</a:t>
                      </a:r>
                      <a:endParaRPr b="1" sz="1000">
                        <a:solidFill>
                          <a:srgbClr val="FE5F0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E5F07"/>
                          </a:solidFill>
                        </a:rPr>
                        <a:t>da_IL</a:t>
                      </a:r>
                      <a:endParaRPr b="1" sz="1000">
                        <a:solidFill>
                          <a:srgbClr val="FE5F0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E5F07"/>
                          </a:solidFill>
                        </a:rPr>
                        <a:t>da_IN</a:t>
                      </a:r>
                      <a:endParaRPr b="1" sz="1000">
                        <a:solidFill>
                          <a:srgbClr val="FE5F0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E5F07"/>
                          </a:solidFill>
                        </a:rPr>
                        <a:t>act_IL</a:t>
                      </a:r>
                      <a:endParaRPr b="1" sz="1000">
                        <a:solidFill>
                          <a:srgbClr val="FE5F0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E5F07"/>
                          </a:solidFill>
                        </a:rPr>
                        <a:t>act_MI</a:t>
                      </a:r>
                      <a:endParaRPr b="1" sz="1000">
                        <a:solidFill>
                          <a:srgbClr val="FE5F0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E5F07"/>
                          </a:solidFill>
                        </a:rPr>
                        <a:t>Actual Load</a:t>
                      </a:r>
                      <a:endParaRPr b="1" sz="1000">
                        <a:solidFill>
                          <a:srgbClr val="FE5F0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E5F07"/>
                          </a:solidFill>
                        </a:rPr>
                        <a:t>lag_1h</a:t>
                      </a:r>
                      <a:endParaRPr b="1" sz="1000">
                        <a:solidFill>
                          <a:srgbClr val="FE5F0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E5F07"/>
                          </a:solidFill>
                        </a:rPr>
                        <a:t>Target (lmp_act)</a:t>
                      </a:r>
                      <a:endParaRPr b="1" sz="1000">
                        <a:solidFill>
                          <a:srgbClr val="FE5F0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8/24/17 1:00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17.23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19.12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19.15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20.23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66,330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19.31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19.21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8/24/17 2:00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16.40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18.52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18.59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19.61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64,453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19.21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18.67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284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33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Prithvish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628650" y="498513"/>
            <a:ext cx="7511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Data Processing &amp; Methodology</a:t>
            </a:r>
            <a:endParaRPr/>
          </a:p>
        </p:txBody>
      </p:sp>
      <p:sp>
        <p:nvSpPr>
          <p:cNvPr id="211" name="Google Shape;211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4"/>
          <p:cNvSpPr txBox="1"/>
          <p:nvPr/>
        </p:nvSpPr>
        <p:spPr>
          <a:xfrm>
            <a:off x="311700" y="1236850"/>
            <a:ext cx="85206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Data Preparation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Loaded Actual LMP, Day-Ahead LMP, and Load datasets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Standardized timestamps and merged all sources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Trimmed data to a shared start–end window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Removed duplicates and aligned hub-level rows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Transformations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Pivoted hub prices into wide-format feature columns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Interpolated missing hub prices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Forward-filled load values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Created engineered features: lag_1h; roll_24h; multiple hub-specific price fields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Final ML-Ready Table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26 total features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~20 engineered features (lag, rolling, pivoted hub prices, load fields)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~65,000 hourly observations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Prithvish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628650" y="498513"/>
            <a:ext cx="7511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Project Workflow Overview</a:t>
            </a:r>
            <a:endParaRPr/>
          </a:p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35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Viswanath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2" name="Google Shape;222;p35"/>
          <p:cNvSpPr/>
          <p:nvPr/>
        </p:nvSpPr>
        <p:spPr>
          <a:xfrm flipH="1" rot="984884">
            <a:off x="6580090" y="2964880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5"/>
          <p:cNvSpPr/>
          <p:nvPr/>
        </p:nvSpPr>
        <p:spPr>
          <a:xfrm rot="-984884">
            <a:off x="5557569" y="2964880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5"/>
          <p:cNvSpPr/>
          <p:nvPr/>
        </p:nvSpPr>
        <p:spPr>
          <a:xfrm flipH="1" rot="984884">
            <a:off x="4522797" y="2964880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5"/>
          <p:cNvSpPr/>
          <p:nvPr/>
        </p:nvSpPr>
        <p:spPr>
          <a:xfrm rot="-984884">
            <a:off x="3500275" y="2964880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5"/>
          <p:cNvSpPr/>
          <p:nvPr/>
        </p:nvSpPr>
        <p:spPr>
          <a:xfrm flipH="1" rot="984884">
            <a:off x="2469620" y="2964880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0C5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/>
          <p:nvPr/>
        </p:nvSpPr>
        <p:spPr>
          <a:xfrm rot="-984884">
            <a:off x="1447098" y="2964880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0C5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p35"/>
          <p:cNvGrpSpPr/>
          <p:nvPr/>
        </p:nvGrpSpPr>
        <p:grpSpPr>
          <a:xfrm>
            <a:off x="5759760" y="1703832"/>
            <a:ext cx="1712700" cy="1246754"/>
            <a:chOff x="5770307" y="1221570"/>
            <a:chExt cx="1712700" cy="1246754"/>
          </a:xfrm>
        </p:grpSpPr>
        <p:sp>
          <p:nvSpPr>
            <p:cNvPr id="229" name="Google Shape;229;p35"/>
            <p:cNvSpPr/>
            <p:nvPr/>
          </p:nvSpPr>
          <p:spPr>
            <a:xfrm rot="-1789476">
              <a:off x="6546711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5"/>
            <p:cNvSpPr/>
            <p:nvPr/>
          </p:nvSpPr>
          <p:spPr>
            <a:xfrm>
              <a:off x="5770307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5"/>
            <p:cNvSpPr/>
            <p:nvPr/>
          </p:nvSpPr>
          <p:spPr>
            <a:xfrm rot="10800000">
              <a:off x="6581632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5"/>
            <p:cNvSpPr txBox="1"/>
            <p:nvPr/>
          </p:nvSpPr>
          <p:spPr>
            <a:xfrm>
              <a:off x="5814557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Feature importance via Ridge coefficients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Permutation importance analysis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3" name="Google Shape;233;p35"/>
          <p:cNvGrpSpPr/>
          <p:nvPr/>
        </p:nvGrpSpPr>
        <p:grpSpPr>
          <a:xfrm>
            <a:off x="1652403" y="1703832"/>
            <a:ext cx="1712700" cy="1246754"/>
            <a:chOff x="1641853" y="1221570"/>
            <a:chExt cx="1712700" cy="1246754"/>
          </a:xfrm>
        </p:grpSpPr>
        <p:sp>
          <p:nvSpPr>
            <p:cNvPr id="234" name="Google Shape;234;p35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5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5"/>
            <p:cNvSpPr txBox="1"/>
            <p:nvPr/>
          </p:nvSpPr>
          <p:spPr>
            <a:xfrm>
              <a:off x="1686103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Combined Actual LMP, Day-Ahead LMP, and Load datasets into one unified hourly table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7" name="Google Shape;237;p35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C57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5"/>
            <p:cNvSpPr txBox="1"/>
            <p:nvPr/>
          </p:nvSpPr>
          <p:spPr>
            <a:xfrm>
              <a:off x="1734975" y="1986913"/>
              <a:ext cx="15294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Data Preparation</a:t>
              </a:r>
              <a:endParaRPr b="1" sz="12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9" name="Google Shape;239;p35"/>
          <p:cNvGrpSpPr/>
          <p:nvPr/>
        </p:nvGrpSpPr>
        <p:grpSpPr>
          <a:xfrm>
            <a:off x="3702753" y="1703832"/>
            <a:ext cx="1712700" cy="1246754"/>
            <a:chOff x="3692203" y="1221570"/>
            <a:chExt cx="1712700" cy="1246754"/>
          </a:xfrm>
        </p:grpSpPr>
        <p:sp>
          <p:nvSpPr>
            <p:cNvPr id="240" name="Google Shape;240;p35"/>
            <p:cNvSpPr/>
            <p:nvPr/>
          </p:nvSpPr>
          <p:spPr>
            <a:xfrm rot="-1789476">
              <a:off x="4468320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5"/>
            <p:cNvSpPr/>
            <p:nvPr/>
          </p:nvSpPr>
          <p:spPr>
            <a:xfrm>
              <a:off x="369220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5"/>
            <p:cNvSpPr/>
            <p:nvPr/>
          </p:nvSpPr>
          <p:spPr>
            <a:xfrm rot="10800000">
              <a:off x="450352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5"/>
            <p:cNvSpPr txBox="1"/>
            <p:nvPr/>
          </p:nvSpPr>
          <p:spPr>
            <a:xfrm>
              <a:off x="3736453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Ridge Regression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Dense Neural Network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LSTM and GRU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4" name="Google Shape;244;p35"/>
            <p:cNvSpPr txBox="1"/>
            <p:nvPr/>
          </p:nvSpPr>
          <p:spPr>
            <a:xfrm>
              <a:off x="3736452" y="1986913"/>
              <a:ext cx="16242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Modeling Pipeline</a:t>
              </a:r>
              <a:endParaRPr b="1" sz="12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5" name="Google Shape;245;p35"/>
          <p:cNvGrpSpPr/>
          <p:nvPr/>
        </p:nvGrpSpPr>
        <p:grpSpPr>
          <a:xfrm>
            <a:off x="4744753" y="3025688"/>
            <a:ext cx="1712700" cy="1230715"/>
            <a:chOff x="4734203" y="2543425"/>
            <a:chExt cx="1712700" cy="1230715"/>
          </a:xfrm>
        </p:grpSpPr>
        <p:sp>
          <p:nvSpPr>
            <p:cNvPr id="246" name="Google Shape;246;p35"/>
            <p:cNvSpPr/>
            <p:nvPr/>
          </p:nvSpPr>
          <p:spPr>
            <a:xfrm rot="-1789476">
              <a:off x="5510320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5"/>
            <p:cNvSpPr/>
            <p:nvPr/>
          </p:nvSpPr>
          <p:spPr>
            <a:xfrm>
              <a:off x="47342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5"/>
            <p:cNvSpPr txBox="1"/>
            <p:nvPr/>
          </p:nvSpPr>
          <p:spPr>
            <a:xfrm>
              <a:off x="4778453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Train/validation/test split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MAE, RMSE, R²</a:t>
              </a:r>
              <a:endParaRPr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" name="Google Shape;249;p35"/>
            <p:cNvSpPr/>
            <p:nvPr/>
          </p:nvSpPr>
          <p:spPr>
            <a:xfrm>
              <a:off x="55455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35"/>
          <p:cNvGrpSpPr/>
          <p:nvPr/>
        </p:nvGrpSpPr>
        <p:grpSpPr>
          <a:xfrm>
            <a:off x="2694353" y="3025688"/>
            <a:ext cx="1712700" cy="1230715"/>
            <a:chOff x="2683803" y="2543425"/>
            <a:chExt cx="1712700" cy="1230715"/>
          </a:xfrm>
        </p:grpSpPr>
        <p:sp>
          <p:nvSpPr>
            <p:cNvPr id="251" name="Google Shape;251;p35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C57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5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5"/>
            <p:cNvSpPr txBox="1"/>
            <p:nvPr/>
          </p:nvSpPr>
          <p:spPr>
            <a:xfrm>
              <a:off x="2728053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Added lag, roll, engineered features (~20 features)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Final dataset: 65k rows, 26 features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" name="Google Shape;254;p35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5"/>
            <p:cNvSpPr txBox="1"/>
            <p:nvPr/>
          </p:nvSpPr>
          <p:spPr>
            <a:xfrm>
              <a:off x="2728200" y="2737213"/>
              <a:ext cx="16242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Feature Engineering</a:t>
              </a:r>
              <a:endParaRPr b="1" sz="12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6" name="Google Shape;256;p35"/>
          <p:cNvSpPr txBox="1"/>
          <p:nvPr/>
        </p:nvSpPr>
        <p:spPr>
          <a:xfrm>
            <a:off x="4789002" y="3222100"/>
            <a:ext cx="16242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b="1" sz="1200">
              <a:solidFill>
                <a:srgbClr val="5E5E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5804002" y="2461450"/>
            <a:ext cx="16242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rPr>
              <a:t>Interpretation</a:t>
            </a:r>
            <a:endParaRPr b="1" sz="1200">
              <a:solidFill>
                <a:srgbClr val="5E5E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628650" y="498513"/>
            <a:ext cx="7511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Baseline Model: Ridge Regression (L2)</a:t>
            </a:r>
            <a:endParaRPr/>
          </a:p>
        </p:txBody>
      </p:sp>
      <p:sp>
        <p:nvSpPr>
          <p:cNvPr id="264" name="Google Shape;264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6"/>
          <p:cNvSpPr txBox="1"/>
          <p:nvPr/>
        </p:nvSpPr>
        <p:spPr>
          <a:xfrm>
            <a:off x="311700" y="1259475"/>
            <a:ext cx="8520600" cy="3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 Setup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Used Ridge Regression as the baseline supervised model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Trained on the cleaned, wide-format dataset (26 features)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Inputs include hub-level LMPs, load variables, lag_1h, roll_24h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Applied scaling using a Robust Scaler → Ridge pipeline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Performance (Test Set)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MAE ≈ 4.19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RMSE ≈ 9.19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R² ≈ 0.897</a:t>
            </a:r>
            <a:r>
              <a:rPr lang="en">
                <a:solidFill>
                  <a:schemeClr val="dk1"/>
                </a:solidFill>
              </a:rPr>
              <a:t>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Key Points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Captures most relationships between features and Illinois LMP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Very stable due to regularization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Serves as our comparison benchmark for deeper models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Coefficients later used for feature importance analysis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Prithvish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type="title"/>
          </p:nvPr>
        </p:nvSpPr>
        <p:spPr>
          <a:xfrm>
            <a:off x="628650" y="498513"/>
            <a:ext cx="7511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Dense Neural Network (Performed Well)</a:t>
            </a:r>
            <a:endParaRPr/>
          </a:p>
        </p:txBody>
      </p:sp>
      <p:sp>
        <p:nvSpPr>
          <p:cNvPr id="273" name="Google Shape;273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7"/>
          <p:cNvSpPr txBox="1"/>
          <p:nvPr/>
        </p:nvSpPr>
        <p:spPr>
          <a:xfrm>
            <a:off x="311700" y="1236850"/>
            <a:ext cx="85206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 Setup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Feed-forward neural network trained on the same 26-feature dataset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Inputs include hub prices, load features, lag_1h, and roll_24h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Nonlinear activation functions to capture interactions not handled by linear models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Trained using early stopping and standard scaling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Performance (Test Set)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MAE ≈ 10.04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RMSE ≈ 12.46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R² ≈ 0.8119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Key Points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Learned meaningful nonlinear relationships in the engineered features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More flexible than Ridge, but did not surpass Ridge on this dataset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Served as a strong nonlinear benchmark before sequence models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Showed stable training behavior compared to LSTM/GRU runs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Viswanath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>
            <p:ph type="title"/>
          </p:nvPr>
        </p:nvSpPr>
        <p:spPr>
          <a:xfrm>
            <a:off x="628650" y="498513"/>
            <a:ext cx="7511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Deep Sequence Models (LSTM, GRU)</a:t>
            </a:r>
            <a:endParaRPr/>
          </a:p>
        </p:txBody>
      </p:sp>
      <p:sp>
        <p:nvSpPr>
          <p:cNvPr id="282" name="Google Shape;282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8"/>
          <p:cNvSpPr txBox="1"/>
          <p:nvPr/>
        </p:nvSpPr>
        <p:spPr>
          <a:xfrm>
            <a:off x="311700" y="1206675"/>
            <a:ext cx="85206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Model Setup</a:t>
            </a:r>
            <a:endParaRPr sz="15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Tested multiple sequence architectures:</a:t>
            </a:r>
            <a:endParaRPr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LSTM (expanding-window)</a:t>
            </a:r>
            <a:endParaRPr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GRU</a:t>
            </a:r>
            <a:endParaRPr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Scaled input versions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Trained on historical windows of hourly LMP data</a:t>
            </a:r>
            <a:endParaRPr sz="13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Goal: capture temporal patterns and volatility in price sequences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Performance (Test Set)</a:t>
            </a:r>
            <a:endParaRPr sz="15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LSTM R² ≈ 0.20–0.25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GRU R² ≈ 0.21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Scaled LSTM R² ≈ 0.242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Key Observations</a:t>
            </a:r>
            <a:endParaRPr sz="15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Models struggled with extreme volatility and price spikes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Temporal patterns contributed less predictive power than expected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Most useful information was already contained in current-hour hub prices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Dense and Ridge models were significantly more stable and accurate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Viswanath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xfrm>
            <a:off x="490225" y="498525"/>
            <a:ext cx="7662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Technical Challenges &amp; Lessons Learned</a:t>
            </a:r>
            <a:endParaRPr/>
          </a:p>
        </p:txBody>
      </p:sp>
      <p:sp>
        <p:nvSpPr>
          <p:cNvPr id="291" name="Google Shape;291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9"/>
          <p:cNvSpPr txBox="1"/>
          <p:nvPr/>
        </p:nvSpPr>
        <p:spPr>
          <a:xfrm>
            <a:off x="311700" y="1251925"/>
            <a:ext cx="8520600" cy="3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Sequence Model Challenges</a:t>
            </a:r>
            <a:endParaRPr sz="13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LSTM/GRU could not learn strong temporal patterns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Engineered features (lag_1h, roll_24h) already captured most time-based information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Hub-to-hub price relationships dominated the signal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High volatility and price spikes made sequence training unstable</a:t>
            </a:r>
            <a:endParaRPr sz="12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Weather Data Did Not Improve Performance</a:t>
            </a:r>
            <a:endParaRPr sz="13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Added temperature, wind speed, humidity, and precipitation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No meaningful improvement for Dense, LSTM, or GRU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Weak short-term correlation between weather variables and Illinois LMP</a:t>
            </a:r>
            <a:endParaRPr sz="12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Dimensionality Reduction Attempts</a:t>
            </a:r>
            <a:endParaRPr sz="13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PCA on price + load features did not improve accuracy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Reduced interpretability without providing benefits</a:t>
            </a:r>
            <a:endParaRPr sz="12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Data Characteristics</a:t>
            </a:r>
            <a:endParaRPr sz="13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Extreme spikes (&gt; $2,000) impacted sequence model stability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Retaining spikes resulted in better test-set performance than clipping or removal</a:t>
            </a:r>
            <a:endParaRPr sz="12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Key Lessons</a:t>
            </a:r>
            <a:endParaRPr sz="13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Most predictive signal comes from current-hour hub prices and load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Simple models with good feature engineering outperformed complex sequence models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Additional features (weather, PCA) do not guarantee better forecasting performance</a:t>
            </a:r>
            <a:endParaRPr sz="1250">
              <a:solidFill>
                <a:schemeClr val="dk1"/>
              </a:solidFill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Yongrin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>
          <a:xfrm>
            <a:off x="490225" y="498525"/>
            <a:ext cx="7662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Feature Importance Findings</a:t>
            </a:r>
            <a:endParaRPr/>
          </a:p>
        </p:txBody>
      </p:sp>
      <p:sp>
        <p:nvSpPr>
          <p:cNvPr id="300" name="Google Shape;300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40"/>
          <p:cNvSpPr txBox="1"/>
          <p:nvPr/>
        </p:nvSpPr>
        <p:spPr>
          <a:xfrm>
            <a:off x="605850" y="1318350"/>
            <a:ext cx="3625200" cy="25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Coefficient-Based Importance</a:t>
            </a:r>
            <a:endParaRPr b="1"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Largest positive impact: da_ILLINOIS.HUB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Other highly influential features: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da_INDIANA.HUB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act_MICHIGAN.HUB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act_INDIANA.HUB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Load features also contributed: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Forecasted Load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Cleared Load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Actual Load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Short-term history (lag_1h, roll_24h) had moderate importance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02" name="Google Shape;302;p40"/>
          <p:cNvSpPr txBox="1"/>
          <p:nvPr/>
        </p:nvSpPr>
        <p:spPr>
          <a:xfrm>
            <a:off x="4785550" y="1339475"/>
            <a:ext cx="3291600" cy="21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Permutation Importance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Largest R² drop when permuted: act_MICHIGAN.HUB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Strong contributors: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da_ILLINOIS.HUB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da_INDIANA.HUB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act_INDIANA.HUB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act_MINN.HUB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Weather-related features (if included) showed near-zero importance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03" name="Google Shape;303;p40"/>
          <p:cNvSpPr txBox="1"/>
          <p:nvPr/>
        </p:nvSpPr>
        <p:spPr>
          <a:xfrm>
            <a:off x="2582400" y="3800375"/>
            <a:ext cx="39792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Insights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Illinois LMP is driven primarily by current hub prices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Load variables provide secondary adjustment</a:t>
            </a:r>
            <a:endParaRPr sz="1100">
              <a:solidFill>
                <a:schemeClr val="dk1"/>
              </a:solidFill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Long historical sequences add limited predictive value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304" name="Google Shape;304;p40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Yongrin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490225" y="498525"/>
            <a:ext cx="7662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11" name="Google Shape;311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1"/>
          <p:cNvSpPr txBox="1"/>
          <p:nvPr/>
        </p:nvSpPr>
        <p:spPr>
          <a:xfrm>
            <a:off x="311700" y="1236850"/>
            <a:ext cx="85206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9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50">
                <a:solidFill>
                  <a:schemeClr val="dk1"/>
                </a:solidFill>
              </a:rPr>
              <a:t>Model Performance</a:t>
            </a:r>
            <a:endParaRPr sz="165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Ridge Regression performed the best (R² ≈ 0.898)</a:t>
            </a:r>
            <a:endParaRPr sz="150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Dense Neural Network learned useful nonlinear patterns but did not surpass Ridge</a:t>
            </a:r>
            <a:endParaRPr sz="150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LSTM and GRU underperformed due to weak temporal structure in hourly LMP data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09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50">
                <a:solidFill>
                  <a:schemeClr val="dk1"/>
                </a:solidFill>
              </a:rPr>
              <a:t>Feature Insights</a:t>
            </a:r>
            <a:endParaRPr sz="165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Illinois LMP is driven primarily by current-hour hub prices across regions</a:t>
            </a:r>
            <a:endParaRPr sz="150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Load variables contribute secondary predictive power</a:t>
            </a:r>
            <a:endParaRPr sz="150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Engineered features (lag_1h, roll_24h) were more useful than long sequence histories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09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50">
                <a:solidFill>
                  <a:schemeClr val="dk1"/>
                </a:solidFill>
              </a:rPr>
              <a:t>Additional Experiments</a:t>
            </a:r>
            <a:endParaRPr sz="165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Adding weather data did not improve any model</a:t>
            </a:r>
            <a:endParaRPr sz="150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PCA did not improve accuracy and reduced interpretability</a:t>
            </a:r>
            <a:endParaRPr sz="150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Keeping price spikes led to more stable and accurate models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09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50">
                <a:solidFill>
                  <a:schemeClr val="dk1"/>
                </a:solidFill>
              </a:rPr>
              <a:t>Overall Takeaway</a:t>
            </a:r>
            <a:endParaRPr sz="165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Simple models with strong feature engineering outperformed more complex architectures</a:t>
            </a:r>
            <a:endParaRPr sz="1500">
              <a:solidFill>
                <a:schemeClr val="dk1"/>
              </a:solidFill>
            </a:endParaRPr>
          </a:p>
          <a:p>
            <a:pPr indent="-30241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Predictive value is dominated by cross-hub price relationships, not long-term temporal patterns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313" name="Google Shape;313;p41"/>
          <p:cNvSpPr txBox="1"/>
          <p:nvPr/>
        </p:nvSpPr>
        <p:spPr>
          <a:xfrm>
            <a:off x="0" y="4849800"/>
            <a:ext cx="201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Contribution by: Yongrin</a:t>
            </a:r>
            <a:endParaRPr sz="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>
            <p:ph type="title"/>
          </p:nvPr>
        </p:nvSpPr>
        <p:spPr>
          <a:xfrm>
            <a:off x="490225" y="498525"/>
            <a:ext cx="7662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3"/>
              </a:buClr>
              <a:buSzPct val="100000"/>
              <a:buFont typeface="Arial"/>
              <a:buNone/>
            </a:pPr>
            <a:r>
              <a:rPr lang="en"/>
              <a:t>What Each Member Contributed</a:t>
            </a:r>
            <a:endParaRPr/>
          </a:p>
        </p:txBody>
      </p:sp>
      <p:sp>
        <p:nvSpPr>
          <p:cNvPr id="320" name="Google Shape;320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2"/>
          <p:cNvSpPr txBox="1"/>
          <p:nvPr/>
        </p:nvSpPr>
        <p:spPr>
          <a:xfrm>
            <a:off x="311700" y="1339475"/>
            <a:ext cx="8520600" cy="3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Prithvish Taukari</a:t>
            </a:r>
            <a:endParaRPr b="1" sz="1800">
              <a:solidFill>
                <a:schemeClr val="dk1"/>
              </a:solidFill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800">
                <a:solidFill>
                  <a:schemeClr val="dk1"/>
                </a:solidFill>
              </a:rPr>
              <a:t>Slide 3: Sample Data</a:t>
            </a:r>
            <a:endParaRPr sz="1800">
              <a:solidFill>
                <a:schemeClr val="dk1"/>
              </a:solidFill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800">
                <a:solidFill>
                  <a:schemeClr val="dk1"/>
                </a:solidFill>
              </a:rPr>
              <a:t>Slide 4: Preprocessing</a:t>
            </a:r>
            <a:endParaRPr sz="1800">
              <a:solidFill>
                <a:schemeClr val="dk1"/>
              </a:solidFill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800">
                <a:solidFill>
                  <a:schemeClr val="dk1"/>
                </a:solidFill>
              </a:rPr>
              <a:t>Slide 6: Ridge Regression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Viswanath Vadlamani</a:t>
            </a:r>
            <a:endParaRPr b="1" sz="1800">
              <a:solidFill>
                <a:schemeClr val="dk1"/>
              </a:solidFill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800">
                <a:solidFill>
                  <a:schemeClr val="dk1"/>
                </a:solidFill>
              </a:rPr>
              <a:t>Slide 5: Workflow</a:t>
            </a:r>
            <a:endParaRPr sz="1800">
              <a:solidFill>
                <a:schemeClr val="dk1"/>
              </a:solidFill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800">
                <a:solidFill>
                  <a:schemeClr val="dk1"/>
                </a:solidFill>
              </a:rPr>
              <a:t>Slide 7: Dense Neural Network</a:t>
            </a:r>
            <a:endParaRPr sz="1800">
              <a:solidFill>
                <a:schemeClr val="dk1"/>
              </a:solidFill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800">
                <a:solidFill>
                  <a:schemeClr val="dk1"/>
                </a:solidFill>
              </a:rPr>
              <a:t>Slide 8: LSTM/GRU Models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Yongrin Park</a:t>
            </a:r>
            <a:endParaRPr b="1" sz="1800">
              <a:solidFill>
                <a:schemeClr val="dk1"/>
              </a:solidFill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800">
                <a:solidFill>
                  <a:schemeClr val="dk1"/>
                </a:solidFill>
              </a:rPr>
              <a:t>Slide 9: Technical Challenges</a:t>
            </a:r>
            <a:endParaRPr sz="1800">
              <a:solidFill>
                <a:schemeClr val="dk1"/>
              </a:solidFill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800">
                <a:solidFill>
                  <a:schemeClr val="dk1"/>
                </a:solidFill>
              </a:rPr>
              <a:t>Slide 10: Feature Importance</a:t>
            </a:r>
            <a:endParaRPr sz="1800">
              <a:solidFill>
                <a:schemeClr val="dk1"/>
              </a:solidFill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800">
                <a:solidFill>
                  <a:schemeClr val="dk1"/>
                </a:solidFill>
              </a:rPr>
              <a:t>Slide 11: Conclusions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Com ppt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atCom ppt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